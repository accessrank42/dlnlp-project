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8" r:id="rId3"/>
    <p:sldId id="270" r:id="rId4"/>
    <p:sldId id="271" r:id="rId5"/>
    <p:sldId id="274" r:id="rId6"/>
    <p:sldId id="276" r:id="rId7"/>
    <p:sldId id="272" r:id="rId8"/>
    <p:sldId id="277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57EDF-34B1-BD4A-924E-1E8B9ABCA728}" v="48" dt="2026-01-30T06:54:39.324"/>
    <p1510:client id="{370DD9CC-BD64-8CCF-2758-BA04220CFB33}" v="64" dt="2026-01-29T20:32:40.779"/>
    <p1510:client id="{4377DB87-8C9F-6444-58AC-1887F0551905}" v="404" dt="2026-01-30T06:14:09.150"/>
    <p1510:client id="{48AC3006-FB3D-946B-DBFC-7359F831ECBA}" v="49" dt="2026-01-29T19:04:37.541"/>
    <p1510:client id="{4E426C3F-EAB0-8DDC-53CF-B4AC0671CF49}" v="102" dt="2026-01-29T23:10:41.883"/>
    <p1510:client id="{58A4FC24-65B9-6B93-283F-1E47D410046A}" v="1197" dt="2026-01-29T22:35:35.599"/>
    <p1510:client id="{6514D501-25AF-CB7F-516B-22A2C9521EAE}" v="631" dt="2026-01-28T21:02:07.116"/>
    <p1510:client id="{7F928901-910E-AA28-5330-26557B35A55E}" v="109" dt="2026-01-29T20:14:34.432"/>
    <p1510:client id="{A4ED7CE9-C4F6-17C3-F5E7-2589B9947F6C}" v="112" dt="2026-01-29T22:21:35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0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1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8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7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6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8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8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7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0YLpWcEBIQhPuEPOJjG5vb2hNW7GUzKs?usp=sharing" TargetMode="External"/><Relationship Id="rId2" Type="http://schemas.openxmlformats.org/officeDocument/2006/relationships/hyperlink" Target="https://github.com/AccessRank42/DLNLP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83872F-6195-D0C0-0867-C82DE92D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53" r="10075" b="1340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DYNAMIC COATTENTION NETWORKS FOR QUESTION ANSWERING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</a:rPr>
              <a:t>                       </a:t>
            </a:r>
            <a:r>
              <a:rPr lang="en-US" sz="1600" b="1">
                <a:solidFill>
                  <a:schemeClr val="bg1"/>
                </a:solidFill>
              </a:rPr>
              <a:t>Presented by </a:t>
            </a:r>
            <a:endParaRPr lang="en-US">
              <a:solidFill>
                <a:schemeClr val="bg1"/>
              </a:solidFill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</a:rPr>
              <a:t>                          GROUP 12 </a:t>
            </a:r>
          </a:p>
          <a:p>
            <a:pPr algn="l"/>
            <a:r>
              <a:rPr lang="en-US" sz="1600" b="1">
                <a:solidFill>
                  <a:schemeClr val="bg1"/>
                </a:solidFill>
              </a:rPr>
              <a:t>                     Aditi Chauhan</a:t>
            </a:r>
          </a:p>
          <a:p>
            <a:pPr algn="l"/>
            <a:r>
              <a:rPr lang="en-US" sz="1600" b="1">
                <a:solidFill>
                  <a:schemeClr val="bg1"/>
                </a:solidFill>
              </a:rPr>
              <a:t>            Gabriel </a:t>
            </a:r>
            <a:r>
              <a:rPr lang="en-US" sz="1600" b="1" err="1">
                <a:solidFill>
                  <a:schemeClr val="bg1"/>
                </a:solidFill>
              </a:rPr>
              <a:t>Haubenburger</a:t>
            </a:r>
            <a:endParaRPr lang="en-US" sz="1600" b="1">
              <a:solidFill>
                <a:schemeClr val="bg1"/>
              </a:solidFill>
            </a:endParaRPr>
          </a:p>
          <a:p>
            <a:pPr algn="l"/>
            <a:r>
              <a:rPr lang="en-US" sz="1600" b="1">
                <a:solidFill>
                  <a:schemeClr val="bg1"/>
                </a:solidFill>
              </a:rPr>
              <a:t>            Mohammadali Dehghani</a:t>
            </a:r>
          </a:p>
          <a:p>
            <a:pPr algn="l"/>
            <a:r>
              <a:rPr lang="en-US" sz="1600" b="1">
                <a:solidFill>
                  <a:schemeClr val="bg1"/>
                </a:solidFill>
              </a:rPr>
              <a:t>                        Áron Lakatos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200A-6C8E-E904-D500-D1A359B0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240"/>
          </a:xfrm>
        </p:spPr>
        <p:txBody>
          <a:bodyPr/>
          <a:lstStyle/>
          <a:p>
            <a:r>
              <a:rPr lang="en-US"/>
              <a:t>                                </a:t>
            </a:r>
            <a:r>
              <a:rPr lang="en-US" sz="3600"/>
              <a:t> 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7203-7135-12B9-9B4A-77A208B27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32567"/>
            <a:ext cx="5271245" cy="45418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u="sng">
                <a:latin typeface="Calibri"/>
                <a:ea typeface="Calibri"/>
                <a:cs typeface="Calibri"/>
              </a:rPr>
              <a:t>Paper Overview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Addresses </a:t>
            </a:r>
            <a:r>
              <a:rPr lang="en-US" sz="1800" b="1">
                <a:latin typeface="Calibri"/>
                <a:ea typeface="Calibri"/>
                <a:cs typeface="Calibri"/>
              </a:rPr>
              <a:t>span-based QA</a:t>
            </a:r>
            <a:r>
              <a:rPr lang="en-US" sz="1800">
                <a:latin typeface="Calibri"/>
                <a:ea typeface="Calibri"/>
                <a:cs typeface="Calibri"/>
              </a:rPr>
              <a:t> on the </a:t>
            </a:r>
            <a:r>
              <a:rPr lang="en-US" sz="1800" b="1" err="1">
                <a:latin typeface="Calibri"/>
                <a:ea typeface="Calibri"/>
                <a:cs typeface="Calibri"/>
              </a:rPr>
              <a:t>SQuAD</a:t>
            </a:r>
            <a:r>
              <a:rPr lang="en-US" sz="1800" b="1">
                <a:latin typeface="Calibri"/>
                <a:ea typeface="Calibri"/>
                <a:cs typeface="Calibri"/>
              </a:rPr>
              <a:t> </a:t>
            </a:r>
            <a:r>
              <a:rPr lang="en-US" sz="1800">
                <a:latin typeface="Calibri"/>
                <a:ea typeface="Calibri"/>
                <a:cs typeface="Calibri"/>
              </a:rPr>
              <a:t>dataset</a:t>
            </a: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Identifies limitations of </a:t>
            </a:r>
            <a:r>
              <a:rPr lang="en-US" sz="1800" b="1">
                <a:latin typeface="Calibri"/>
                <a:ea typeface="Calibri"/>
                <a:cs typeface="Calibri"/>
              </a:rPr>
              <a:t>single-pass neural QA models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Focus on recovering from </a:t>
            </a:r>
            <a:r>
              <a:rPr lang="en-US" sz="1800" b="1">
                <a:latin typeface="Calibri"/>
                <a:ea typeface="Calibri"/>
                <a:cs typeface="Calibri"/>
              </a:rPr>
              <a:t>local maxima</a:t>
            </a:r>
            <a:r>
              <a:rPr lang="en-US" sz="1800">
                <a:latin typeface="Calibri"/>
                <a:ea typeface="Calibri"/>
                <a:cs typeface="Calibri"/>
              </a:rPr>
              <a:t> in answer prediction</a:t>
            </a:r>
          </a:p>
          <a:p>
            <a:pPr marL="0" indent="0">
              <a:buNone/>
            </a:pP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 u="sng">
                <a:latin typeface="Calibri"/>
                <a:ea typeface="Calibri"/>
                <a:cs typeface="Calibri"/>
              </a:rPr>
              <a:t>Proposed Solution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Introduces the </a:t>
            </a:r>
            <a:r>
              <a:rPr lang="en-US" sz="1800" b="1">
                <a:latin typeface="Calibri"/>
                <a:ea typeface="Calibri"/>
                <a:cs typeface="Calibri"/>
              </a:rPr>
              <a:t>Dynamic Co attention Network (DCN)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>
                <a:latin typeface="Calibri"/>
                <a:ea typeface="Calibri"/>
                <a:cs typeface="Calibri"/>
              </a:rPr>
              <a:t>Co attention encoder</a:t>
            </a:r>
            <a:r>
              <a:rPr lang="en-US" sz="1800">
                <a:latin typeface="Calibri"/>
                <a:ea typeface="Calibri"/>
                <a:cs typeface="Calibri"/>
              </a:rPr>
              <a:t> jointly models question–document interactions</a:t>
            </a:r>
          </a:p>
          <a:p>
            <a:pPr>
              <a:buFont typeface="Arial"/>
              <a:buChar char="•"/>
            </a:pPr>
            <a:r>
              <a:rPr lang="en-US" sz="1800" b="1">
                <a:latin typeface="Calibri"/>
                <a:ea typeface="Calibri"/>
                <a:cs typeface="Calibri"/>
              </a:rPr>
              <a:t>Dynamic pointing decoder</a:t>
            </a:r>
            <a:r>
              <a:rPr lang="en-US" sz="1800">
                <a:latin typeface="Calibri"/>
                <a:ea typeface="Calibri"/>
                <a:cs typeface="Calibri"/>
              </a:rPr>
              <a:t> iteratively predicts start and end positions</a:t>
            </a: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Iteration allows correction of </a:t>
            </a:r>
            <a:r>
              <a:rPr lang="en-US" sz="1800" b="1">
                <a:latin typeface="Calibri"/>
                <a:ea typeface="Calibri"/>
                <a:cs typeface="Calibri"/>
              </a:rPr>
              <a:t>incorrect initial answers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C33678-BE46-88D8-5B90-E7852F7D7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4965" y="1455831"/>
            <a:ext cx="5248835" cy="4721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Calibri"/>
                <a:ea typeface="Calibri"/>
                <a:cs typeface="Calibri"/>
              </a:rPr>
              <a:t>Key Contributions 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Introduces a </a:t>
            </a:r>
            <a:r>
              <a:rPr lang="en-US" sz="2000" b="1">
                <a:latin typeface="Calibri"/>
                <a:ea typeface="Calibri"/>
                <a:cs typeface="Calibri"/>
              </a:rPr>
              <a:t>co attention mechanism </a:t>
            </a:r>
            <a:r>
              <a:rPr lang="en-US" sz="2000">
                <a:latin typeface="Calibri"/>
                <a:ea typeface="Calibri"/>
                <a:cs typeface="Calibri"/>
              </a:rPr>
              <a:t>that simultaneously attends to both question and document representations.</a:t>
            </a:r>
          </a:p>
          <a:p>
            <a:pPr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Proposes an </a:t>
            </a:r>
            <a:r>
              <a:rPr lang="en-US" sz="2000" b="1">
                <a:latin typeface="Calibri"/>
                <a:ea typeface="Calibri"/>
                <a:cs typeface="Calibri"/>
              </a:rPr>
              <a:t>iterative answer span prediction strategy</a:t>
            </a:r>
            <a:r>
              <a:rPr lang="en-US" sz="2000">
                <a:latin typeface="Calibri"/>
                <a:ea typeface="Calibri"/>
                <a:cs typeface="Calibri"/>
              </a:rPr>
              <a:t> instead of single-pass decoding.</a:t>
            </a:r>
          </a:p>
          <a:p>
            <a:pPr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Demonstrates </a:t>
            </a:r>
            <a:r>
              <a:rPr lang="en-US" sz="2000" b="1">
                <a:latin typeface="Calibri"/>
                <a:ea typeface="Calibri"/>
                <a:cs typeface="Calibri"/>
              </a:rPr>
              <a:t>state-of-the-art performance on </a:t>
            </a:r>
            <a:r>
              <a:rPr lang="en-US" sz="2000" b="1" err="1">
                <a:latin typeface="Calibri"/>
                <a:ea typeface="Calibri"/>
                <a:cs typeface="Calibri"/>
              </a:rPr>
              <a:t>SQuAD</a:t>
            </a:r>
            <a:r>
              <a:rPr lang="en-US" sz="2000">
                <a:latin typeface="Calibri"/>
                <a:ea typeface="Calibri"/>
                <a:cs typeface="Calibri"/>
              </a:rPr>
              <a:t> at the time of publication:</a:t>
            </a:r>
          </a:p>
          <a:p>
            <a:pPr>
              <a:buFont typeface="Arial"/>
              <a:buChar char="•"/>
            </a:pPr>
            <a:r>
              <a:rPr lang="en-US" sz="2000" b="1">
                <a:latin typeface="Calibri"/>
                <a:ea typeface="Calibri"/>
                <a:cs typeface="Calibri"/>
              </a:rPr>
              <a:t>75.9% F1</a:t>
            </a:r>
            <a:r>
              <a:rPr lang="en-US" sz="2000">
                <a:latin typeface="Calibri"/>
                <a:ea typeface="Calibri"/>
                <a:cs typeface="Calibri"/>
              </a:rPr>
              <a:t> with a single DCN model</a:t>
            </a:r>
          </a:p>
          <a:p>
            <a:pPr>
              <a:buFont typeface="Arial"/>
              <a:buChar char="•"/>
            </a:pPr>
            <a:r>
              <a:rPr lang="en-US" sz="2000" b="1">
                <a:latin typeface="Calibri"/>
                <a:ea typeface="Calibri"/>
                <a:cs typeface="Calibri"/>
              </a:rPr>
              <a:t>80.4% F1</a:t>
            </a:r>
            <a:r>
              <a:rPr lang="en-US" sz="2000">
                <a:latin typeface="Calibri"/>
                <a:ea typeface="Calibri"/>
                <a:cs typeface="Calibri"/>
              </a:rPr>
              <a:t> with a DCN ensemble</a:t>
            </a:r>
          </a:p>
          <a:p>
            <a:pPr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Shows that iterative reasoning significantly improves robustness in machine comprehension.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A24A-4016-F3F3-E8A7-00086464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534"/>
          </a:xfrm>
        </p:spPr>
        <p:txBody>
          <a:bodyPr>
            <a:normAutofit/>
          </a:bodyPr>
          <a:lstStyle/>
          <a:p>
            <a:r>
              <a:rPr lang="en-US" sz="3600">
                <a:latin typeface="Calibri"/>
                <a:ea typeface="+mj-lt"/>
                <a:cs typeface="+mj-lt"/>
              </a:rPr>
              <a:t>                                 Understanding</a:t>
            </a:r>
            <a:endParaRPr lang="en-US" sz="3600"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5145-423B-53E0-4ACE-027A7731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2919"/>
            <a:ext cx="5260040" cy="52366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latin typeface="Calibri"/>
                <a:ea typeface="+mn-lt"/>
                <a:cs typeface="+mn-lt"/>
              </a:rPr>
              <a:t>Dataset</a:t>
            </a:r>
          </a:p>
          <a:p>
            <a:r>
              <a:rPr lang="en-US" sz="2400">
                <a:latin typeface="Calibri"/>
                <a:ea typeface="+mn-lt"/>
                <a:cs typeface="+mn-lt"/>
              </a:rPr>
              <a:t>Evaluated on </a:t>
            </a:r>
            <a:r>
              <a:rPr lang="en-US" sz="2400" b="1" err="1">
                <a:latin typeface="Calibri"/>
                <a:ea typeface="+mn-lt"/>
                <a:cs typeface="+mn-lt"/>
              </a:rPr>
              <a:t>SQuAD</a:t>
            </a:r>
            <a:r>
              <a:rPr lang="en-US" sz="2400" b="1">
                <a:latin typeface="Calibri"/>
                <a:ea typeface="+mn-lt"/>
                <a:cs typeface="+mn-lt"/>
              </a:rPr>
              <a:t> v1.1</a:t>
            </a:r>
            <a:r>
              <a:rPr lang="en-US" sz="2400">
                <a:latin typeface="Calibri"/>
                <a:ea typeface="+mn-lt"/>
                <a:cs typeface="+mn-lt"/>
              </a:rPr>
              <a:t>, a large-scale human-annotated QA dataset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Key Methodological Insights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err="1">
                <a:latin typeface="Calibri"/>
                <a:ea typeface="+mn-lt"/>
                <a:cs typeface="+mn-lt"/>
              </a:rPr>
              <a:t>Coattention</a:t>
            </a:r>
            <a:r>
              <a:rPr lang="en-US" sz="2400">
                <a:latin typeface="Calibri"/>
                <a:ea typeface="+mn-lt"/>
                <a:cs typeface="+mn-lt"/>
              </a:rPr>
              <a:t> captures </a:t>
            </a:r>
            <a:r>
              <a:rPr lang="en-US" sz="2400" b="1">
                <a:latin typeface="Calibri"/>
                <a:ea typeface="+mn-lt"/>
                <a:cs typeface="+mn-lt"/>
              </a:rPr>
              <a:t>fine-grained interactions</a:t>
            </a:r>
            <a:r>
              <a:rPr lang="en-US" sz="2400">
                <a:latin typeface="Calibri"/>
                <a:ea typeface="+mn-lt"/>
                <a:cs typeface="+mn-lt"/>
              </a:rPr>
              <a:t> between question and document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libri"/>
                <a:ea typeface="+mn-lt"/>
                <a:cs typeface="+mn-lt"/>
              </a:rPr>
              <a:t>Iterative decoding helps escape </a:t>
            </a:r>
            <a:r>
              <a:rPr lang="en-US" sz="2400" b="1">
                <a:latin typeface="Calibri"/>
                <a:ea typeface="+mn-lt"/>
                <a:cs typeface="+mn-lt"/>
              </a:rPr>
              <a:t>local maxima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libri"/>
                <a:ea typeface="+mn-lt"/>
                <a:cs typeface="+mn-lt"/>
              </a:rPr>
              <a:t>Alternating start–end prediction improves answer span accuracy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Results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b="1">
                <a:latin typeface="Calibri"/>
                <a:ea typeface="+mn-lt"/>
                <a:cs typeface="+mn-lt"/>
              </a:rPr>
              <a:t>Single DCN model</a:t>
            </a:r>
            <a:r>
              <a:rPr lang="en-US" sz="2400">
                <a:latin typeface="Calibri"/>
                <a:ea typeface="+mn-lt"/>
                <a:cs typeface="+mn-lt"/>
              </a:rPr>
              <a:t>: 75.9% F1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b="1">
                <a:latin typeface="Calibri"/>
                <a:ea typeface="+mn-lt"/>
                <a:cs typeface="+mn-lt"/>
              </a:rPr>
              <a:t>DCN ensemble</a:t>
            </a:r>
            <a:r>
              <a:rPr lang="en-US" sz="2400">
                <a:latin typeface="Calibri"/>
                <a:ea typeface="+mn-lt"/>
                <a:cs typeface="+mn-lt"/>
              </a:rPr>
              <a:t>: 80.4% F1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457200" indent="-45720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B722E-D4EF-57AC-4AC7-CAB3F3E68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4965" y="1231714"/>
            <a:ext cx="5248835" cy="49452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Model Architecture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42D98812-23E1-C112-9E54-1739DA28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327" y="1618971"/>
            <a:ext cx="6115611" cy="3115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A8D34-B8D2-0A30-9988-F3BAE120A33B}"/>
              </a:ext>
            </a:extLst>
          </p:cNvPr>
          <p:cNvSpPr txBox="1"/>
          <p:nvPr/>
        </p:nvSpPr>
        <p:spPr>
          <a:xfrm>
            <a:off x="5951745" y="5147855"/>
            <a:ext cx="610496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ptos"/>
              <a:ea typeface="Calibri"/>
              <a:cs typeface="Calibri"/>
            </a:endParaRPr>
          </a:p>
          <a:p>
            <a:r>
              <a:rPr lang="en-US" sz="1200" b="1" err="1">
                <a:latin typeface="Calibri"/>
                <a:ea typeface="Calibri"/>
                <a:cs typeface="Calibri"/>
              </a:rPr>
              <a:t>Coattention</a:t>
            </a:r>
            <a:r>
              <a:rPr lang="en-US" sz="1200" b="1" dirty="0">
                <a:latin typeface="Calibri"/>
                <a:ea typeface="Calibri"/>
                <a:cs typeface="Calibri"/>
              </a:rPr>
              <a:t> Encoder</a:t>
            </a:r>
          </a:p>
          <a:p>
            <a:r>
              <a:rPr lang="en-US" sz="1200" dirty="0">
                <a:latin typeface="Calibri"/>
                <a:ea typeface="Calibri"/>
                <a:cs typeface="Calibri"/>
              </a:rPr>
              <a:t>Learns co-dependent representations by jointly attending to question and document tokens</a:t>
            </a:r>
          </a:p>
          <a:p>
            <a:r>
              <a:rPr lang="en-US" sz="1200" b="1" dirty="0">
                <a:latin typeface="Calibri"/>
                <a:ea typeface="Calibri"/>
                <a:cs typeface="Calibri"/>
              </a:rPr>
              <a:t>Dynamic Pointing Decoder</a:t>
            </a:r>
          </a:p>
          <a:p>
            <a:r>
              <a:rPr lang="en-US" sz="1200" dirty="0">
                <a:latin typeface="Calibri"/>
                <a:ea typeface="Calibri"/>
                <a:cs typeface="Calibri"/>
              </a:rPr>
              <a:t>Iteratively predicts start and end positions of the answer span</a:t>
            </a:r>
          </a:p>
          <a:p>
            <a:r>
              <a:rPr lang="en-US" sz="1200" dirty="0">
                <a:latin typeface="Calibri"/>
                <a:ea typeface="Calibri"/>
                <a:cs typeface="Calibri"/>
              </a:rPr>
              <a:t>Allows refinement of predictions across multiple decoding steps.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69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68B2-BA7E-F644-82D0-B731142A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20"/>
          </a:xfrm>
        </p:spPr>
        <p:txBody>
          <a:bodyPr>
            <a:normAutofit fontScale="90000"/>
          </a:bodyPr>
          <a:lstStyle/>
          <a:p>
            <a:r>
              <a:rPr lang="en-US" sz="3600"/>
              <a:t>                                                   </a:t>
            </a:r>
            <a:br>
              <a:rPr lang="en-US" sz="3600"/>
            </a:br>
            <a:r>
              <a:rPr lang="en-US" sz="3600"/>
              <a:t>                                                Reproduction</a:t>
            </a:r>
            <a:br>
              <a:rPr lang="en-US" sz="3600"/>
            </a:br>
            <a:br>
              <a:rPr lang="en-US" sz="3600"/>
            </a:b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C0C5-E067-DFBC-9CD6-3AFCD367D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8292"/>
            <a:ext cx="5254171" cy="55003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alibri"/>
                <a:ea typeface="Calibri"/>
                <a:cs typeface="Calibri"/>
              </a:rPr>
              <a:t>Models Evaluated on Dev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Calibri"/>
                <a:ea typeface="Calibri"/>
                <a:cs typeface="Calibri"/>
              </a:rPr>
              <a:t>DCN (baseline)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Calibri"/>
                <a:ea typeface="Calibri"/>
                <a:cs typeface="Calibri"/>
              </a:rPr>
              <a:t>BERT (warm-start)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err="1">
                <a:latin typeface="Calibri"/>
                <a:ea typeface="Calibri"/>
                <a:cs typeface="Calibri"/>
              </a:rPr>
              <a:t>DistilBERT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err="1">
                <a:latin typeface="Calibri"/>
                <a:ea typeface="Calibri"/>
                <a:cs typeface="Calibri"/>
              </a:rPr>
              <a:t>DeBERTa</a:t>
            </a:r>
            <a:r>
              <a:rPr lang="en-US" sz="1800" b="1">
                <a:latin typeface="Calibri"/>
                <a:ea typeface="Calibri"/>
                <a:cs typeface="Calibri"/>
              </a:rPr>
              <a:t> 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alibri"/>
                <a:ea typeface="Calibri"/>
                <a:cs typeface="Calibri"/>
              </a:rPr>
              <a:t>Evaluation Metrics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>
                <a:latin typeface="Calibri"/>
                <a:ea typeface="Calibri"/>
                <a:cs typeface="Calibri"/>
              </a:rPr>
              <a:t>Exact Match (EM)</a:t>
            </a:r>
            <a:br>
              <a:rPr lang="en-US" sz="1800">
                <a:latin typeface="Calibri"/>
              </a:rPr>
            </a:br>
            <a:r>
              <a:rPr lang="en-US" sz="1800">
                <a:latin typeface="Calibri"/>
                <a:ea typeface="Calibri"/>
                <a:cs typeface="Calibri"/>
              </a:rPr>
              <a:t>Measures whether the predicted answer exactly matches the gold answer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u="sng">
                <a:latin typeface="Calibri"/>
                <a:ea typeface="Calibri"/>
                <a:cs typeface="Calibri"/>
              </a:rPr>
              <a:t>F1 Score</a:t>
            </a:r>
            <a:br>
              <a:rPr lang="en-US" sz="1800">
                <a:latin typeface="Calibri"/>
              </a:rPr>
            </a:br>
            <a:r>
              <a:rPr lang="en-US" sz="1800">
                <a:latin typeface="Calibri"/>
                <a:ea typeface="Calibri"/>
                <a:cs typeface="Calibri"/>
              </a:rPr>
              <a:t>Measures token-level overlap between prediction and gold answer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alibri"/>
                <a:ea typeface="Calibri"/>
                <a:cs typeface="Calibri"/>
              </a:rPr>
              <a:t>Implementation Details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Calibri"/>
                <a:cs typeface="Calibri"/>
              </a:rPr>
              <a:t>Environment managed using </a:t>
            </a:r>
            <a:r>
              <a:rPr lang="en-US" sz="1800" err="1">
                <a:latin typeface="Calibri"/>
                <a:ea typeface="Calibri"/>
                <a:cs typeface="Calibri"/>
              </a:rPr>
              <a:t>conda</a:t>
            </a:r>
            <a:r>
              <a:rPr lang="en-US" sz="1800">
                <a:latin typeface="Calibri"/>
                <a:ea typeface="Calibri"/>
                <a:cs typeface="Calibri"/>
              </a:rPr>
              <a:t> (</a:t>
            </a:r>
            <a:r>
              <a:rPr lang="en-US" sz="1800" err="1">
                <a:latin typeface="Calibri"/>
                <a:ea typeface="Calibri"/>
                <a:cs typeface="Calibri"/>
              </a:rPr>
              <a:t>environment.yml</a:t>
            </a:r>
            <a:r>
              <a:rPr lang="en-US" sz="1800">
                <a:latin typeface="Calibri"/>
                <a:ea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Calibri"/>
                <a:cs typeface="Calibri"/>
              </a:rPr>
              <a:t>Experiments executed via PyCharm / Python scripts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Calibri"/>
                <a:cs typeface="Calibri"/>
              </a:rPr>
              <a:t>Official </a:t>
            </a:r>
            <a:r>
              <a:rPr lang="en-US" sz="1800" err="1">
                <a:latin typeface="Calibri"/>
                <a:ea typeface="Calibri"/>
                <a:cs typeface="Calibri"/>
              </a:rPr>
              <a:t>SQuAD</a:t>
            </a:r>
            <a:r>
              <a:rPr lang="en-US" sz="1800">
                <a:latin typeface="Calibri"/>
                <a:ea typeface="Calibri"/>
                <a:cs typeface="Calibri"/>
              </a:rPr>
              <a:t> evaluation script used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alibri"/>
                <a:ea typeface="Calibri"/>
                <a:cs typeface="Calibri"/>
              </a:rPr>
              <a:t>Inference-only (no model retraining)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048D7-FFB7-6CB2-9DE6-55B289C80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629" y="1148292"/>
            <a:ext cx="5568647" cy="5028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/>
              <a:t>                         Quantitative Results</a:t>
            </a:r>
            <a:endParaRPr lang="en-US" sz="2000"/>
          </a:p>
          <a:p>
            <a:pPr>
              <a:buNone/>
            </a:pPr>
            <a:r>
              <a:rPr lang="en-US" sz="1800" b="1"/>
              <a:t>    </a:t>
            </a:r>
          </a:p>
          <a:p>
            <a:pPr>
              <a:buNone/>
            </a:pPr>
            <a:endParaRPr lang="en-US" sz="1800" b="1"/>
          </a:p>
          <a:p>
            <a:pPr>
              <a:buNone/>
            </a:pPr>
            <a:endParaRPr lang="en-US" sz="1600"/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4EFA7D-97E7-C7F7-B89A-F1BE0E54C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89754"/>
              </p:ext>
            </p:extLst>
          </p:nvPr>
        </p:nvGraphicFramePr>
        <p:xfrm>
          <a:off x="6507238" y="1753809"/>
          <a:ext cx="5268138" cy="4604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6809">
                  <a:extLst>
                    <a:ext uri="{9D8B030D-6E8A-4147-A177-3AD203B41FA5}">
                      <a16:colId xmlns:a16="http://schemas.microsoft.com/office/drawing/2014/main" val="2789992429"/>
                    </a:ext>
                  </a:extLst>
                </a:gridCol>
                <a:gridCol w="1255664">
                  <a:extLst>
                    <a:ext uri="{9D8B030D-6E8A-4147-A177-3AD203B41FA5}">
                      <a16:colId xmlns:a16="http://schemas.microsoft.com/office/drawing/2014/main" val="2133844636"/>
                    </a:ext>
                  </a:extLst>
                </a:gridCol>
                <a:gridCol w="1255665">
                  <a:extLst>
                    <a:ext uri="{9D8B030D-6E8A-4147-A177-3AD203B41FA5}">
                      <a16:colId xmlns:a16="http://schemas.microsoft.com/office/drawing/2014/main" val="3672173859"/>
                    </a:ext>
                  </a:extLst>
                </a:gridCol>
              </a:tblGrid>
              <a:tr h="608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Model</a:t>
                      </a:r>
                      <a:endParaRPr lang="en-US" sz="2000"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</a:t>
                      </a:r>
                      <a:endParaRPr lang="en-US" sz="2000"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F1</a:t>
                      </a:r>
                      <a:endParaRPr lang="en-US" sz="2000"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784594"/>
                  </a:ext>
                </a:extLst>
              </a:tr>
              <a:tr h="8751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Single DCN Model (Paper) 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65.4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75.6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51663"/>
                  </a:ext>
                </a:extLst>
              </a:tr>
              <a:tr h="68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DCN Ensemble (Paper)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70.3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79.4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349544"/>
                  </a:ext>
                </a:extLst>
              </a:tr>
              <a:tr h="608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DCN (reproduced)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48.2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61.4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20174"/>
                  </a:ext>
                </a:extLst>
              </a:tr>
              <a:tr h="608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BERT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64.4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79.1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72290"/>
                  </a:ext>
                </a:extLst>
              </a:tr>
              <a:tr h="608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DistilBERT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66.9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76.8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06058"/>
                  </a:ext>
                </a:extLst>
              </a:tr>
              <a:tr h="608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DeBERTa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(Extension)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buNone/>
                      </a:pPr>
                      <a:r>
                        <a:rPr lang="en-US" sz="19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87.46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buNone/>
                      </a:pPr>
                      <a:r>
                        <a:rPr lang="en-US" sz="19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94.04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3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28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6459-F70E-3432-8AE3-06E277E9D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14" y="8935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>
                <a:latin typeface="Aptos"/>
              </a:rPr>
              <a:t>Side-by-Side Output Comparison (Same Questions – Different Models)</a:t>
            </a:r>
            <a:endParaRPr lang="en-US" sz="2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DA51A4-A629-D271-8552-F1DB67816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85758"/>
              </p:ext>
            </p:extLst>
          </p:nvPr>
        </p:nvGraphicFramePr>
        <p:xfrm>
          <a:off x="397975" y="1178446"/>
          <a:ext cx="11397363" cy="4840336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802380">
                  <a:extLst>
                    <a:ext uri="{9D8B030D-6E8A-4147-A177-3AD203B41FA5}">
                      <a16:colId xmlns:a16="http://schemas.microsoft.com/office/drawing/2014/main" val="3877251350"/>
                    </a:ext>
                  </a:extLst>
                </a:gridCol>
                <a:gridCol w="1607162">
                  <a:extLst>
                    <a:ext uri="{9D8B030D-6E8A-4147-A177-3AD203B41FA5}">
                      <a16:colId xmlns:a16="http://schemas.microsoft.com/office/drawing/2014/main" val="3223820392"/>
                    </a:ext>
                  </a:extLst>
                </a:gridCol>
                <a:gridCol w="1408680">
                  <a:extLst>
                    <a:ext uri="{9D8B030D-6E8A-4147-A177-3AD203B41FA5}">
                      <a16:colId xmlns:a16="http://schemas.microsoft.com/office/drawing/2014/main" val="69072508"/>
                    </a:ext>
                  </a:extLst>
                </a:gridCol>
                <a:gridCol w="2053081">
                  <a:extLst>
                    <a:ext uri="{9D8B030D-6E8A-4147-A177-3AD203B41FA5}">
                      <a16:colId xmlns:a16="http://schemas.microsoft.com/office/drawing/2014/main" val="1553350121"/>
                    </a:ext>
                  </a:extLst>
                </a:gridCol>
                <a:gridCol w="1753361">
                  <a:extLst>
                    <a:ext uri="{9D8B030D-6E8A-4147-A177-3AD203B41FA5}">
                      <a16:colId xmlns:a16="http://schemas.microsoft.com/office/drawing/2014/main" val="3115895217"/>
                    </a:ext>
                  </a:extLst>
                </a:gridCol>
                <a:gridCol w="1772699">
                  <a:extLst>
                    <a:ext uri="{9D8B030D-6E8A-4147-A177-3AD203B41FA5}">
                      <a16:colId xmlns:a16="http://schemas.microsoft.com/office/drawing/2014/main" val="456867479"/>
                    </a:ext>
                  </a:extLst>
                </a:gridCol>
              </a:tblGrid>
              <a:tr h="681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Question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Gold Answer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DCN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BERT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 err="1">
                          <a:solidFill>
                            <a:srgbClr val="FFFFFF"/>
                          </a:solidFill>
                          <a:effectLst/>
                        </a:rPr>
                        <a:t>DistilBERT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2000" err="1">
                          <a:solidFill>
                            <a:srgbClr val="FFFFFF"/>
                          </a:solidFill>
                          <a:effectLst/>
                        </a:rPr>
                        <a:t>DeBERTa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047550"/>
                  </a:ext>
                </a:extLst>
              </a:tr>
              <a:tr h="773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Which NFL team represented the AFC at Super Bowl 50?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Denver Broncos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NFL team</a:t>
                      </a:r>
                      <a:endParaRPr lang="en-US"/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Denver Broncos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</a:rPr>
                        <a:t>denver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 broncos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Denver Broncos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466686"/>
                  </a:ext>
                </a:extLst>
              </a:tr>
              <a:tr h="773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Which NFL team represented the NFC at Super Bowl 50?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Carolina Panthers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NFL team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Carolina Panthers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effectLst/>
                        </a:rPr>
                        <a:t>carolina</a:t>
                      </a:r>
                      <a:r>
                        <a:rPr lang="en-US" sz="1800">
                          <a:effectLst/>
                        </a:rPr>
                        <a:t> panthers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Carolina Panthers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177414"/>
                  </a:ext>
                </a:extLst>
              </a:tr>
              <a:tr h="773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On what date was Super Bowl 50 played?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February 7, 2016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February 7, 2016</a:t>
                      </a:r>
                      <a:endParaRPr lang="en-US"/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 7, 2016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 7, 2016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February 7, 2016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2521"/>
                  </a:ext>
                </a:extLst>
              </a:tr>
              <a:tr h="773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Where did Super Bowl 50 take place?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Santa Clara, California</a:t>
                      </a:r>
                      <a:endParaRPr lang="en-US" sz="1800" b="0" i="0" u="none" strike="noStrike" kern="1200">
                        <a:solidFill>
                          <a:srgbClr val="000000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Santa Clara</a:t>
                      </a:r>
                    </a:p>
                    <a:p>
                      <a:pPr lvl="0" algn="l">
                        <a:lnSpc>
                          <a:spcPct val="107000"/>
                        </a:lnSpc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San Francisco Bay Area at Santa Clara, California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effectLst/>
                        </a:rPr>
                        <a:t>levi's</a:t>
                      </a:r>
                      <a:r>
                        <a:rPr lang="en-US" sz="1800">
                          <a:effectLst/>
                        </a:rPr>
                        <a:t> stadium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Levi’s Stadium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502900"/>
                  </a:ext>
                </a:extLst>
              </a:tr>
              <a:tr h="773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What was the theme of Super Bowl 50?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golden anniversary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arabic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numerals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golden anniversary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</a:rPr>
                        <a:t>arabic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 numerals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golden anniversary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477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15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CC3E-8D4C-B954-1FC8-7D42392F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" y="249011"/>
            <a:ext cx="3505200" cy="1332820"/>
          </a:xfrm>
        </p:spPr>
        <p:txBody>
          <a:bodyPr/>
          <a:lstStyle/>
          <a:p>
            <a:r>
              <a:rPr lang="en-US" sz="2000" b="1">
                <a:latin typeface="Aptos"/>
              </a:rPr>
              <a:t>                                                                            </a:t>
            </a:r>
            <a:r>
              <a:rPr lang="en-US" sz="3600" b="1">
                <a:latin typeface="Calibri"/>
                <a:ea typeface="Calibri"/>
                <a:cs typeface="Calibri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9C04-37A1-FAF3-402E-5A66B6B6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21"/>
            <a:ext cx="10515600" cy="4593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8F9700-6572-C0DA-C44D-AE8C80316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32843"/>
              </p:ext>
            </p:extLst>
          </p:nvPr>
        </p:nvGraphicFramePr>
        <p:xfrm>
          <a:off x="678905" y="1432436"/>
          <a:ext cx="10814106" cy="4323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7031">
                  <a:extLst>
                    <a:ext uri="{9D8B030D-6E8A-4147-A177-3AD203B41FA5}">
                      <a16:colId xmlns:a16="http://schemas.microsoft.com/office/drawing/2014/main" val="2796391951"/>
                    </a:ext>
                  </a:extLst>
                </a:gridCol>
                <a:gridCol w="3671569">
                  <a:extLst>
                    <a:ext uri="{9D8B030D-6E8A-4147-A177-3AD203B41FA5}">
                      <a16:colId xmlns:a16="http://schemas.microsoft.com/office/drawing/2014/main" val="3284752235"/>
                    </a:ext>
                  </a:extLst>
                </a:gridCol>
                <a:gridCol w="3965506">
                  <a:extLst>
                    <a:ext uri="{9D8B030D-6E8A-4147-A177-3AD203B41FA5}">
                      <a16:colId xmlns:a16="http://schemas.microsoft.com/office/drawing/2014/main" val="3999419307"/>
                    </a:ext>
                  </a:extLst>
                </a:gridCol>
              </a:tblGrid>
              <a:tr h="3018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Category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Main Challenge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effectLst/>
                        </a:rPr>
                        <a:t>Impact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38430"/>
                  </a:ext>
                </a:extLst>
              </a:tr>
              <a:tr h="1207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Model Limitations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Old RNN-based architecture with no pretraining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Weak language understanding compared to transformers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5098"/>
                  </a:ext>
                </a:extLst>
              </a:tr>
              <a:tr h="9055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Implementation Issues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Implemented in Chainer (deprecated framework)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Hard to run, debug, and integrate with modern tools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765765"/>
                  </a:ext>
                </a:extLst>
              </a:tr>
              <a:tr h="9055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Environment Constraints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No GPU and old Python/NumPy versions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Very slow inference and limited experiments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89930"/>
                  </a:ext>
                </a:extLst>
              </a:tr>
              <a:tr h="9055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Embedding Mismatch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Wrong </a:t>
                      </a:r>
                      <a:r>
                        <a:rPr lang="en-US" sz="2000" err="1">
                          <a:effectLst/>
                        </a:rPr>
                        <a:t>GloVe</a:t>
                      </a:r>
                      <a:r>
                        <a:rPr lang="en-US" sz="2000">
                          <a:effectLst/>
                        </a:rPr>
                        <a:t> version used at first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Weights mismatch caused very Low EM and F1 scores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8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04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78A2-02C3-3F00-C61E-9F1ED915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97"/>
            <a:ext cx="10515600" cy="974801"/>
          </a:xfrm>
        </p:spPr>
        <p:txBody>
          <a:bodyPr/>
          <a:lstStyle/>
          <a:p>
            <a:r>
              <a:rPr lang="en-US"/>
              <a:t>                                  </a:t>
            </a:r>
            <a:r>
              <a:rPr lang="en-US" sz="3600">
                <a:latin typeface="Calibri"/>
                <a:ea typeface="Calibri"/>
                <a:cs typeface="Calibri"/>
              </a:rPr>
              <a:t>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A87E4-06E7-B54A-8C42-60515C969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867" y="1408340"/>
            <a:ext cx="5677504" cy="489562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u="sng">
                <a:latin typeface="Calibri"/>
                <a:ea typeface="Calibri"/>
                <a:cs typeface="Calibri"/>
              </a:rPr>
              <a:t>Model Selection: DeBERTa-v3-Large</a:t>
            </a:r>
            <a:endParaRPr lang="en-US" sz="2000" u="sng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b="1">
                <a:latin typeface="Calibri"/>
                <a:ea typeface="+mn-lt"/>
                <a:cs typeface="+mn-lt"/>
              </a:rPr>
              <a:t>Disentangled Attention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Separates </a:t>
            </a:r>
            <a:r>
              <a:rPr lang="en-US" sz="2000" b="1">
                <a:latin typeface="Calibri"/>
                <a:ea typeface="+mn-lt"/>
                <a:cs typeface="+mn-lt"/>
              </a:rPr>
              <a:t>content (semantics)</a:t>
            </a:r>
            <a:r>
              <a:rPr lang="en-US" sz="2000">
                <a:latin typeface="Calibri"/>
                <a:ea typeface="+mn-lt"/>
                <a:cs typeface="+mn-lt"/>
              </a:rPr>
              <a:t> and </a:t>
            </a:r>
            <a:r>
              <a:rPr lang="en-US" sz="2000" b="1">
                <a:latin typeface="Calibri"/>
                <a:ea typeface="+mn-lt"/>
                <a:cs typeface="+mn-lt"/>
              </a:rPr>
              <a:t>relative position</a:t>
            </a:r>
            <a:r>
              <a:rPr lang="en-US" sz="2000">
                <a:latin typeface="Calibri"/>
                <a:ea typeface="+mn-lt"/>
                <a:cs typeface="+mn-lt"/>
              </a:rPr>
              <a:t> embeddings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Prevents positional bias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b="1">
                <a:latin typeface="Calibri"/>
                <a:ea typeface="+mn-lt"/>
                <a:cs typeface="+mn-lt"/>
              </a:rPr>
              <a:t>Enhanced Mask Decoder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Incorporates </a:t>
            </a:r>
            <a:r>
              <a:rPr lang="en-US" sz="2000" b="1">
                <a:latin typeface="Calibri"/>
                <a:ea typeface="+mn-lt"/>
                <a:cs typeface="+mn-lt"/>
              </a:rPr>
              <a:t>absolute positional information</a:t>
            </a:r>
            <a:r>
              <a:rPr lang="en-US" sz="2000">
                <a:latin typeface="Calibri"/>
                <a:ea typeface="+mn-lt"/>
                <a:cs typeface="+mn-lt"/>
              </a:rPr>
              <a:t> during decoding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Better captures syntactic structure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b="1">
                <a:latin typeface="Calibri"/>
                <a:ea typeface="+mn-lt"/>
                <a:cs typeface="+mn-lt"/>
              </a:rPr>
              <a:t>ELECTRA-style Pretraining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Uses </a:t>
            </a:r>
            <a:r>
              <a:rPr lang="en-US" sz="2000" b="1">
                <a:latin typeface="Calibri"/>
                <a:ea typeface="+mn-lt"/>
                <a:cs typeface="+mn-lt"/>
              </a:rPr>
              <a:t>Replaced Token Detection (RTD)</a:t>
            </a:r>
            <a:r>
              <a:rPr lang="en-US" sz="2000">
                <a:latin typeface="Calibri"/>
                <a:ea typeface="+mn-lt"/>
                <a:cs typeface="+mn-lt"/>
              </a:rPr>
              <a:t> instead of MLM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000">
                <a:latin typeface="Calibri"/>
                <a:ea typeface="+mn-lt"/>
                <a:cs typeface="+mn-lt"/>
              </a:rPr>
              <a:t>More sample-efficient and robust contextual learning</a:t>
            </a:r>
            <a:endParaRPr lang="en-US" sz="2000">
              <a:latin typeface="Calibri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797E4-1BB1-FAAC-B2C8-B86C80C7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7534" y="1281340"/>
            <a:ext cx="5677504" cy="514962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u="sng">
                <a:latin typeface="Calibri"/>
                <a:ea typeface="Calibri"/>
                <a:cs typeface="Calibri"/>
              </a:rPr>
              <a:t>Experimental Setup</a:t>
            </a:r>
            <a:endParaRPr lang="en-US" sz="2000" u="sng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>
                <a:latin typeface="Calibri"/>
                <a:ea typeface="+mn-lt"/>
                <a:cs typeface="+mn-lt"/>
              </a:rPr>
              <a:t>Sliding Window Strategy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Max sequence length: 512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Document stride: 128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Prevents loss of answer spans in long passages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 b="1">
                <a:latin typeface="Calibri"/>
                <a:ea typeface="+mn-lt"/>
                <a:cs typeface="+mn-lt"/>
              </a:rPr>
              <a:t>GPU Optimization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Batch size: 16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Improved throughput and GPU utilization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1800" b="1">
                <a:latin typeface="Calibri"/>
                <a:ea typeface="Calibri"/>
                <a:cs typeface="Calibri"/>
              </a:rPr>
              <a:t>Outcome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DeBERTa-v3-Large significantly outperforms classical QA architectures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Calibri"/>
                <a:ea typeface="+mn-lt"/>
                <a:cs typeface="+mn-lt"/>
              </a:rPr>
              <a:t>Demonstrates the impact of </a:t>
            </a:r>
            <a:r>
              <a:rPr lang="en-US" sz="1800" b="1">
                <a:latin typeface="Calibri"/>
                <a:ea typeface="+mn-lt"/>
                <a:cs typeface="+mn-lt"/>
              </a:rPr>
              <a:t>pretraining and attention design</a:t>
            </a:r>
            <a:r>
              <a:rPr lang="en-US" sz="1800">
                <a:latin typeface="Calibri"/>
                <a:ea typeface="+mn-lt"/>
                <a:cs typeface="+mn-lt"/>
              </a:rPr>
              <a:t> on QA performance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>
              <a:lnSpc>
                <a:spcPct val="70000"/>
              </a:lnSpc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Outcomes: Benchmark Performance: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     - Exact Match (EM): 87,46%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     - F1 Score: 94,04%</a:t>
            </a:r>
            <a:endParaRPr lang="en-US" sz="1800"/>
          </a:p>
          <a:p>
            <a:pPr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BED2-08FD-D2D1-C159-7A06503E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087"/>
          </a:xfrm>
        </p:spPr>
        <p:txBody>
          <a:bodyPr/>
          <a:lstStyle/>
          <a:p>
            <a:r>
              <a:rPr lang="en-US"/>
              <a:t>                                  </a:t>
            </a:r>
            <a:r>
              <a:rPr lang="en-US">
                <a:latin typeface="Calibri"/>
                <a:ea typeface="Calibri"/>
                <a:cs typeface="Calibri"/>
              </a:rPr>
              <a:t> </a:t>
            </a:r>
            <a:r>
              <a:rPr lang="en-US" sz="3600"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E85E-EEB7-31C8-41CD-6EB4C18F3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673"/>
            <a:ext cx="10515600" cy="45811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latin typeface="Calibri"/>
                <a:ea typeface="Calibri"/>
                <a:cs typeface="Calibri"/>
              </a:rPr>
              <a:t>Interpretation of Results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2000">
                <a:latin typeface="Calibri"/>
                <a:ea typeface="Calibri"/>
                <a:cs typeface="Calibri"/>
              </a:rPr>
              <a:t>DCN often generates incorrect or meaningless outputs, indicating limited language understanding.</a:t>
            </a:r>
          </a:p>
          <a:p>
            <a:pPr>
              <a:spcBef>
                <a:spcPts val="0"/>
              </a:spcBef>
            </a:pPr>
            <a:r>
              <a:rPr lang="en-US" sz="2000">
                <a:latin typeface="Calibri"/>
                <a:ea typeface="Calibri"/>
                <a:cs typeface="Calibri"/>
              </a:rPr>
              <a:t>BERT and </a:t>
            </a:r>
            <a:r>
              <a:rPr lang="en-US" sz="2000" err="1">
                <a:latin typeface="Calibri"/>
                <a:ea typeface="Calibri"/>
                <a:cs typeface="Calibri"/>
              </a:rPr>
              <a:t>DistilBERT</a:t>
            </a:r>
            <a:r>
              <a:rPr lang="en-US" sz="2000">
                <a:latin typeface="Calibri"/>
                <a:ea typeface="Calibri"/>
                <a:cs typeface="Calibri"/>
              </a:rPr>
              <a:t> produce mostly correct answers, with small wording differences affecting </a:t>
            </a:r>
            <a:r>
              <a:rPr lang="en-US" sz="2000" err="1">
                <a:latin typeface="Calibri"/>
                <a:ea typeface="Calibri"/>
                <a:cs typeface="Calibri"/>
              </a:rPr>
              <a:t>EMscores</a:t>
            </a:r>
            <a:r>
              <a:rPr lang="en-US" sz="2000"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2000" err="1">
                <a:latin typeface="Calibri"/>
                <a:ea typeface="Calibri"/>
                <a:cs typeface="Calibri"/>
              </a:rPr>
              <a:t>DeBERTa</a:t>
            </a:r>
            <a:r>
              <a:rPr lang="en-US" sz="2000">
                <a:latin typeface="Calibri"/>
                <a:ea typeface="Calibri"/>
                <a:cs typeface="Calibri"/>
              </a:rPr>
              <a:t> provides the most precise and consistent answers across different question types.</a:t>
            </a:r>
          </a:p>
          <a:p>
            <a:pPr>
              <a:spcBef>
                <a:spcPts val="0"/>
              </a:spcBef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latin typeface="Calibri"/>
                <a:ea typeface="Calibri"/>
                <a:cs typeface="Calibri"/>
              </a:rPr>
              <a:t>Key Takeaways</a:t>
            </a:r>
          </a:p>
          <a:p>
            <a:pPr>
              <a:spcBef>
                <a:spcPts val="0"/>
              </a:spcBef>
            </a:pPr>
            <a:r>
              <a:rPr lang="en-US" sz="2000">
                <a:latin typeface="Calibri"/>
                <a:ea typeface="Calibri"/>
                <a:cs typeface="Calibri"/>
              </a:rPr>
              <a:t>Reproducing older QA models like DCN is difficult and often leads to large performance gaps.</a:t>
            </a:r>
          </a:p>
          <a:p>
            <a:pPr>
              <a:spcBef>
                <a:spcPts val="0"/>
              </a:spcBef>
            </a:pPr>
            <a:r>
              <a:rPr lang="en-US" sz="2000">
                <a:latin typeface="Calibri"/>
                <a:ea typeface="Calibri"/>
                <a:cs typeface="Calibri"/>
              </a:rPr>
              <a:t>Modern pretrained transformer models clearly outperform classical architectures on </a:t>
            </a:r>
            <a:r>
              <a:rPr lang="en-US" sz="2000" err="1">
                <a:latin typeface="Calibri"/>
                <a:ea typeface="Calibri"/>
                <a:cs typeface="Calibri"/>
              </a:rPr>
              <a:t>SQuAD</a:t>
            </a:r>
            <a:r>
              <a:rPr lang="en-US" sz="2000">
                <a:latin typeface="Calibri"/>
                <a:ea typeface="Calibri"/>
                <a:cs typeface="Calibri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2000" err="1">
                <a:latin typeface="Calibri"/>
                <a:ea typeface="Calibri"/>
                <a:cs typeface="Calibri"/>
              </a:rPr>
              <a:t>DeBERTa</a:t>
            </a:r>
            <a:r>
              <a:rPr lang="en-US" sz="2000">
                <a:latin typeface="Calibri"/>
                <a:ea typeface="Calibri"/>
                <a:cs typeface="Calibri"/>
              </a:rPr>
              <a:t> achieves the highest accuracy, while </a:t>
            </a:r>
            <a:r>
              <a:rPr lang="en-US" sz="2000" err="1">
                <a:latin typeface="Calibri"/>
                <a:ea typeface="Calibri"/>
                <a:cs typeface="Calibri"/>
              </a:rPr>
              <a:t>DistilBERT</a:t>
            </a:r>
            <a:r>
              <a:rPr lang="en-US" sz="2000">
                <a:latin typeface="Calibri"/>
                <a:ea typeface="Calibri"/>
                <a:cs typeface="Calibri"/>
              </a:rPr>
              <a:t> offers a strong balance between speed and performance.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77198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DD0C-7632-8A95-8381-13A50B46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                            </a:t>
            </a:r>
            <a:r>
              <a:rPr lang="en-US" sz="3600"/>
              <a:t>Project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AFC6-99BC-D4A0-648A-0FCACEF54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Calibri"/>
                <a:ea typeface="+mn-lt"/>
                <a:cs typeface="+mn-lt"/>
              </a:rPr>
              <a:t>Main repo: </a:t>
            </a:r>
            <a:r>
              <a:rPr lang="en-US" sz="2400">
                <a:latin typeface="Calibri"/>
                <a:ea typeface="+mn-lt"/>
                <a:cs typeface="+mn-lt"/>
                <a:hlinkClick r:id="rId2"/>
              </a:rPr>
              <a:t>https://github.com/AccessRank42/DLNLP-project</a:t>
            </a:r>
            <a:endParaRPr lang="en-US" sz="2400">
              <a:latin typeface="Calibri"/>
              <a:ea typeface="+mn-lt"/>
              <a:cs typeface="+mn-lt"/>
            </a:endParaRPr>
          </a:p>
          <a:p>
            <a:r>
              <a:rPr lang="en-US" sz="240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Model weights: </a:t>
            </a:r>
            <a:r>
              <a:rPr lang="en-US" sz="2400">
                <a:solidFill>
                  <a:srgbClr val="000000"/>
                </a:solidFill>
                <a:latin typeface="Calibri"/>
                <a:ea typeface="+mn-lt"/>
                <a:cs typeface="+mn-lt"/>
                <a:hlinkClick r:id="rId3"/>
              </a:rPr>
              <a:t>https://drive.google.com/drive/folders/10YLpWcEBIQhPuEPOJjG5vb2hNW7GUzKs?usp=sharing</a:t>
            </a:r>
            <a:r>
              <a:rPr lang="en-US" sz="240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endParaRPr lang="en-US" sz="240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6477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DYNAMIC COATTENTION NETWORKS FOR QUESTION ANSWERING</vt:lpstr>
      <vt:lpstr>                                  Introduction</vt:lpstr>
      <vt:lpstr>                                 Understanding</vt:lpstr>
      <vt:lpstr>                                                                                                    Reproduction  </vt:lpstr>
      <vt:lpstr>Side-by-Side Output Comparison (Same Questions – Different Models)</vt:lpstr>
      <vt:lpstr>                                                                            Challenges</vt:lpstr>
      <vt:lpstr>                                  Extension</vt:lpstr>
      <vt:lpstr>                                   Conclusion</vt:lpstr>
      <vt:lpstr>                             Project Repo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27</cp:revision>
  <dcterms:created xsi:type="dcterms:W3CDTF">2026-01-25T18:04:15Z</dcterms:created>
  <dcterms:modified xsi:type="dcterms:W3CDTF">2026-01-30T07:17:42Z</dcterms:modified>
</cp:coreProperties>
</file>